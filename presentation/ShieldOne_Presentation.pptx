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78" y="1886775"/>
            <a:ext cx="9997135" cy="1254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0F172A"/>
                </a:solidFill>
                <a:latin typeface="Arial"/>
              </a:defRPr>
            </a:pPr>
            <a:r>
              <a:rPr sz="5400" dirty="0" err="1">
                <a:latin typeface="Agency FB" panose="020B0503020202020204" pitchFamily="34" charset="0"/>
              </a:rPr>
              <a:t>ShieldOne</a:t>
            </a:r>
            <a:endParaRPr sz="5400" dirty="0">
              <a:latin typeface="Agency FB" panose="020B0503020202020204" pitchFamily="34" charset="0"/>
            </a:endParaRPr>
          </a:p>
          <a:p>
            <a:pPr algn="ctr">
              <a:spcBef>
                <a:spcPts val="600"/>
              </a:spcBef>
              <a:defRPr sz="1650" b="1">
                <a:solidFill>
                  <a:srgbClr val="2563EB"/>
                </a:solidFill>
                <a:latin typeface="Arial"/>
              </a:defRPr>
            </a:pPr>
            <a:r>
              <a:rPr dirty="0">
                <a:latin typeface="Agency FB" panose="020B0503020202020204" pitchFamily="34" charset="0"/>
              </a:rPr>
              <a:t>Next-Generation Cyber Defense &amp; Real-Time Threat Intelligence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79" y="3717036"/>
            <a:ext cx="8168335" cy="960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OUR SOLUTION IN ONE LINE</a:t>
            </a:r>
          </a:p>
          <a:p>
            <a:pPr algn="ctr">
              <a:spcBef>
                <a:spcPts val="400"/>
              </a:spcBef>
              <a:defRPr sz="1250" b="1">
                <a:solidFill>
                  <a:srgbClr val="0F172A"/>
                </a:solidFill>
                <a:latin typeface="Arial"/>
              </a:defRPr>
            </a:pPr>
            <a:r>
              <a:rPr dirty="0"/>
              <a:t>“Democratizing cybersecurity by unifying enterprise-grade SOC threat telemetry with AI-powered personal scam defense on a single real-time platform.”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351891" y="5394960"/>
            <a:ext cx="11487912" cy="4572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51891" y="5138928"/>
            <a:ext cx="11487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rial"/>
              </a:defRPr>
            </a:pPr>
            <a:r>
              <a:rPr dirty="0"/>
              <a:t>PROJECT PRESENTER</a:t>
            </a:r>
            <a:endParaRPr lang="en-US" dirty="0"/>
          </a:p>
          <a:p>
            <a:pPr>
              <a:defRPr sz="900" b="1">
                <a:solidFill>
                  <a:srgbClr val="64748B"/>
                </a:solidFill>
                <a:latin typeface="Arial"/>
              </a:defRPr>
            </a:pPr>
            <a:r>
              <a:rPr dirty="0"/>
              <a:t>                              </a:t>
            </a:r>
            <a:r>
              <a:rPr lang="en-US" dirty="0"/>
              <a:t>               </a:t>
            </a:r>
            <a:r>
              <a:rPr dirty="0"/>
              <a:t>        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rPr lang="en-US" dirty="0"/>
              <a:t> </a:t>
            </a:r>
            <a:r>
              <a:rPr dirty="0"/>
              <a:t>Bhargav</a:t>
            </a:r>
            <a:r>
              <a:rPr lang="en-US" dirty="0"/>
              <a:t>-</a:t>
            </a:r>
            <a:r>
              <a:rPr dirty="0"/>
              <a:t>24BCS11028            </a:t>
            </a:r>
            <a:r>
              <a:rPr lang="en-US" dirty="0"/>
              <a:t> </a:t>
            </a:r>
            <a:r>
              <a:rPr dirty="0"/>
              <a:t> </a:t>
            </a:r>
            <a:r>
              <a:rPr lang="en-US" dirty="0"/>
              <a:t>                                              Jaydev Semwal-24BCS10996                                                   Kalap Hastir-25BCS12409       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560320" y="6126480"/>
            <a:ext cx="70710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Core Tech: React 19 • Node.js • Socket.io WebSockets • Leaflet Maps • Google Gemini 2.5 Flash • 5 Global Feeds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71632" y="320040"/>
            <a:ext cx="688543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rPr dirty="0" err="1"/>
              <a:t>Sl</a:t>
            </a:r>
            <a:r>
              <a:rPr lang="en-IN" dirty="0" err="1"/>
              <a:t>i</a:t>
            </a:r>
            <a:r>
              <a:rPr dirty="0"/>
              <a:t>de 2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345" y="850392"/>
            <a:ext cx="10728655" cy="453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Arial"/>
              </a:defRPr>
            </a:pPr>
            <a:r>
              <a:rPr dirty="0"/>
              <a:t>PROBLEM ANALYSIS &amp; INDUSTRY GAP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rPr dirty="0">
                <a:latin typeface="Agency FB" panose="020B0503020202020204" pitchFamily="34" charset="0"/>
              </a:rPr>
              <a:t>The Cybersecurity Crisis: Who Is Struggling and Why?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521208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4754880" cy="2993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Arial"/>
              </a:defRPr>
            </a:pPr>
            <a:r>
              <a:rPr sz="1200" dirty="0"/>
              <a:t>1. ENTERPRISES &amp; SOC ANALYSTS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rPr sz="1200" dirty="0"/>
              <a:t>Overwhelmed by complexity, alert fatigue, and delayed response times.</a:t>
            </a:r>
          </a:p>
          <a:p>
            <a:pPr>
              <a:spcAft>
                <a:spcPts val="900"/>
              </a:spcAft>
              <a:defRPr sz="100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Massive Alert Fatigue: </a:t>
            </a:r>
            <a:r>
              <a:rPr sz="1200" dirty="0">
                <a:solidFill>
                  <a:srgbClr val="334155"/>
                </a:solidFill>
              </a:rPr>
              <a:t>SOC analysts parse thousands of daily events. Over 60% of alerts are false positives or lack severity scoring.</a:t>
            </a:r>
          </a:p>
          <a:p>
            <a:pPr>
              <a:spcAft>
                <a:spcPts val="900"/>
              </a:spcAft>
              <a:defRPr sz="100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Fragmented Threat Feeds: </a:t>
            </a:r>
            <a:r>
              <a:rPr sz="1200" dirty="0">
                <a:solidFill>
                  <a:srgbClr val="334155"/>
                </a:solidFill>
              </a:rPr>
              <a:t>Crucial intelligence is siloed across disparate feeds (Abuse.ch, CISA, SANS) with no unified correlation.</a:t>
            </a:r>
          </a:p>
          <a:p>
            <a:pPr>
              <a:spcAft>
                <a:spcPts val="900"/>
              </a:spcAft>
              <a:defRPr sz="100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High MTTD &amp; MTTR: </a:t>
            </a:r>
            <a:r>
              <a:rPr sz="1200" dirty="0">
                <a:solidFill>
                  <a:srgbClr val="334155"/>
                </a:solidFill>
              </a:rPr>
              <a:t>Mean-Time-To-Detect and Mean-Time-To-Respond remain dangerously high; tier-1 analysts struggle with slow manual triage.</a:t>
            </a:r>
          </a:p>
          <a:p>
            <a:pPr>
              <a:spcAft>
                <a:spcPts val="900"/>
              </a:spcAft>
              <a:defRPr sz="100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Compliance Overhead: </a:t>
            </a:r>
            <a:r>
              <a:rPr sz="1200" dirty="0">
                <a:solidFill>
                  <a:srgbClr val="334155"/>
                </a:solidFill>
              </a:rPr>
              <a:t>Auditing against SOC 2, ISO 27001, and GDPR requires labor-intensive manual evidence collection.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21208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21208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4754880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rPr sz="1200" dirty="0"/>
              <a:t>2. EVERYDAY CITIZENS &amp; STUDENTS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rPr sz="1200" dirty="0"/>
              <a:t>Vulnerable targets of rampant digital deception, financial fraud, and panic lures.</a:t>
            </a:r>
          </a:p>
          <a:p>
            <a:pPr>
              <a:spcAft>
                <a:spcPts val="900"/>
              </a:spcAft>
              <a:defRPr sz="100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Explosion of Social Engineering: </a:t>
            </a:r>
            <a:r>
              <a:rPr sz="1200" dirty="0">
                <a:solidFill>
                  <a:srgbClr val="334155"/>
                </a:solidFill>
              </a:rPr>
              <a:t>Rampant surge in 'Digital Arrest' warrants, fake electricity disconnection SMS, and bogus part-time job lures.</a:t>
            </a:r>
          </a:p>
          <a:p>
            <a:pPr>
              <a:spcAft>
                <a:spcPts val="900"/>
              </a:spcAft>
              <a:defRPr sz="100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No Instant Verification Tool: </a:t>
            </a:r>
            <a:r>
              <a:rPr sz="1200" dirty="0">
                <a:solidFill>
                  <a:srgbClr val="334155"/>
                </a:solidFill>
              </a:rPr>
              <a:t>Common users have zero accessible platforms to check suspicious WhatsApp messages or links before clicking.</a:t>
            </a:r>
          </a:p>
          <a:p>
            <a:pPr>
              <a:spcAft>
                <a:spcPts val="900"/>
              </a:spcAft>
              <a:defRPr sz="100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Financial &amp; Identity Loss: </a:t>
            </a:r>
            <a:r>
              <a:rPr sz="1200" dirty="0">
                <a:solidFill>
                  <a:srgbClr val="334155"/>
                </a:solidFill>
              </a:rPr>
              <a:t>Victims are manipulated into sharing OTPs or wiring money via UPI due to urgent, threatening narratives.</a:t>
            </a:r>
          </a:p>
          <a:p>
            <a:pPr>
              <a:spcAft>
                <a:spcPts val="900"/>
              </a:spcAft>
              <a:defRPr sz="100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Reporting &amp; Recovery Void: </a:t>
            </a:r>
            <a:r>
              <a:rPr sz="1200" dirty="0">
                <a:solidFill>
                  <a:srgbClr val="334155"/>
                </a:solidFill>
              </a:rPr>
              <a:t>Citizens do not know where to turn when targeted; official helplines (1930, cybercrime.gov.in) lack immediate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Slide 3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1910"/>
            <a:ext cx="10728655" cy="453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Arial"/>
              </a:defRPr>
            </a:pPr>
            <a:r>
              <a:rPr dirty="0"/>
              <a:t>ARCHITECTURE &amp; SOLUTION CONCEPT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rPr dirty="0">
                <a:latin typeface="Agency FB" panose="020B0503020202020204" pitchFamily="34" charset="0"/>
              </a:rPr>
              <a:t>Our Solution: The </a:t>
            </a:r>
            <a:r>
              <a:rPr dirty="0" err="1">
                <a:latin typeface="Agency FB" panose="020B0503020202020204" pitchFamily="34" charset="0"/>
              </a:rPr>
              <a:t>ShieldOne</a:t>
            </a:r>
            <a:r>
              <a:rPr dirty="0">
                <a:latin typeface="Agency FB" panose="020B0503020202020204" pitchFamily="34" charset="0"/>
              </a:rPr>
              <a:t> Dual-Tier Defense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338328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8328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2926080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  <a:latin typeface="Arial"/>
              </a:defRPr>
            </a:pPr>
            <a:r>
              <a:rPr sz="1200" dirty="0"/>
              <a:t>01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Professional SOC Intelligence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rPr sz="1200" dirty="0"/>
              <a:t>Enterprise Real-Time Operations</a:t>
            </a:r>
          </a:p>
          <a:p>
            <a:pPr>
              <a:spcAft>
                <a:spcPts val="9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✓  Live WebSocket Streaming: </a:t>
            </a:r>
            <a:r>
              <a:rPr sz="1200" dirty="0">
                <a:solidFill>
                  <a:srgbClr val="334155"/>
                </a:solidFill>
              </a:rPr>
              <a:t>Sub-second 2-second event push without browser reloads.</a:t>
            </a:r>
          </a:p>
          <a:p>
            <a:pPr>
              <a:spcAft>
                <a:spcPts val="9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✓  Interactive Global Attack Map: </a:t>
            </a:r>
            <a:r>
              <a:rPr sz="1200" dirty="0">
                <a:solidFill>
                  <a:srgbClr val="334155"/>
                </a:solidFill>
              </a:rPr>
              <a:t>Geographic origin plotting powered by Leaflet.</a:t>
            </a:r>
          </a:p>
          <a:p>
            <a:pPr>
              <a:spcAft>
                <a:spcPts val="9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✓  Dynamic Risk &amp; Anomaly Gauge: </a:t>
            </a:r>
            <a:r>
              <a:rPr sz="1200" dirty="0">
                <a:solidFill>
                  <a:srgbClr val="334155"/>
                </a:solidFill>
              </a:rPr>
              <a:t>Real-time threat score calculating severity distribution.</a:t>
            </a:r>
          </a:p>
          <a:p>
            <a:pPr>
              <a:spcAft>
                <a:spcPts val="9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✓  Audit &amp; Compliance Tracker: </a:t>
            </a:r>
            <a:r>
              <a:rPr sz="1200" dirty="0">
                <a:solidFill>
                  <a:srgbClr val="334155"/>
                </a:solidFill>
              </a:rPr>
              <a:t>Continuous SOC 2, ISO 27001, and GDPR controls.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783080"/>
            <a:ext cx="338328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783080"/>
            <a:ext cx="3383280" cy="7315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2926080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F46E5"/>
                </a:solidFill>
                <a:latin typeface="Arial"/>
              </a:defRPr>
            </a:pPr>
            <a:r>
              <a:rPr sz="1200" dirty="0"/>
              <a:t>02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Contextual AI Threat Explainer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rPr sz="1200" dirty="0"/>
              <a:t>Gemini 2.5 Flash Triage Engine</a:t>
            </a:r>
          </a:p>
          <a:p>
            <a:pPr>
              <a:spcAft>
                <a:spcPts val="9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✓  1-Click Alert Investigation: </a:t>
            </a:r>
            <a:r>
              <a:rPr sz="1200" dirty="0">
                <a:solidFill>
                  <a:srgbClr val="334155"/>
                </a:solidFill>
              </a:rPr>
              <a:t>Translates raw hex/IP logs into human-readable breakdowns.</a:t>
            </a:r>
          </a:p>
          <a:p>
            <a:pPr>
              <a:spcAft>
                <a:spcPts val="9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✓  Root-Cause Attribution: </a:t>
            </a:r>
            <a:r>
              <a:rPr sz="1200" dirty="0">
                <a:solidFill>
                  <a:srgbClr val="334155"/>
                </a:solidFill>
              </a:rPr>
              <a:t>Maps attack patterns directly to MITRE ATT&amp;CK techniques.</a:t>
            </a:r>
          </a:p>
          <a:p>
            <a:pPr>
              <a:spcAft>
                <a:spcPts val="9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✓  Actionable Playbooks: </a:t>
            </a:r>
            <a:r>
              <a:rPr sz="1200" dirty="0">
                <a:solidFill>
                  <a:srgbClr val="334155"/>
                </a:solidFill>
              </a:rPr>
              <a:t>Generates immediate containment and firewall blocking rules.</a:t>
            </a:r>
          </a:p>
          <a:p>
            <a:pPr>
              <a:spcAft>
                <a:spcPts val="9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✓  Interactive SOC Chatbot: </a:t>
            </a:r>
            <a:r>
              <a:rPr sz="1200" dirty="0">
                <a:solidFill>
                  <a:srgbClr val="334155"/>
                </a:solidFill>
              </a:rPr>
              <a:t>Conversational assistant for deep technical queries.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783080"/>
            <a:ext cx="338328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783080"/>
            <a:ext cx="338328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965960"/>
            <a:ext cx="2926080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rPr sz="1200" dirty="0"/>
              <a:t>03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Personal Security Center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Arial"/>
              </a:defRPr>
            </a:pPr>
            <a:r>
              <a:rPr sz="1200" dirty="0"/>
              <a:t>Zero-Cost Citizen Cyber Shield</a:t>
            </a:r>
          </a:p>
          <a:p>
            <a:pPr>
              <a:spcAft>
                <a:spcPts val="9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✓  Indian Cyber Scam Analyzer: </a:t>
            </a:r>
            <a:r>
              <a:rPr sz="1200" dirty="0">
                <a:solidFill>
                  <a:srgbClr val="334155"/>
                </a:solidFill>
              </a:rPr>
              <a:t>Detects Digital Arrest, Electricity fraud, UPI, and KYC lures.</a:t>
            </a:r>
          </a:p>
          <a:p>
            <a:pPr>
              <a:spcAft>
                <a:spcPts val="9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✓  Malicious URL / Link Scanner: </a:t>
            </a:r>
            <a:r>
              <a:rPr sz="1200" dirty="0">
                <a:solidFill>
                  <a:srgbClr val="334155"/>
                </a:solidFill>
              </a:rPr>
              <a:t>Analyzes fraudulent domains and credential-stealing pages.</a:t>
            </a:r>
          </a:p>
          <a:p>
            <a:pPr>
              <a:spcAft>
                <a:spcPts val="9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✓  Automated Incident Response: </a:t>
            </a:r>
            <a:r>
              <a:rPr sz="1200" dirty="0">
                <a:solidFill>
                  <a:srgbClr val="334155"/>
                </a:solidFill>
              </a:rPr>
              <a:t>Generates step-by-step guidance on what to do and document.</a:t>
            </a:r>
          </a:p>
          <a:p>
            <a:pPr>
              <a:spcAft>
                <a:spcPts val="9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✓  Helpline 1930 Integration: </a:t>
            </a:r>
            <a:r>
              <a:rPr sz="1200" dirty="0">
                <a:solidFill>
                  <a:srgbClr val="334155"/>
                </a:solidFill>
              </a:rPr>
              <a:t>Direct access to National Cybercrime Portal &amp; RBI Sachet.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Slide 4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1151"/>
            <a:ext cx="10728655" cy="453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Arial"/>
              </a:defRPr>
            </a:pPr>
            <a:r>
              <a:rPr dirty="0"/>
              <a:t>OPERATIONAL WALKTHROUGH &amp; DEMO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rPr dirty="0">
                <a:latin typeface="Agency FB" panose="020B0503020202020204" pitchFamily="34" charset="0"/>
              </a:rPr>
              <a:t>How It Works: End-to-End User Journeys &amp; Live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548640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rPr sz="1200" dirty="0"/>
              <a:t>JOURNEY A: ENTERPRISE SOC ANALYST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1. Automated Ingestion: </a:t>
            </a:r>
            <a:r>
              <a:rPr sz="1200" dirty="0">
                <a:solidFill>
                  <a:srgbClr val="334155"/>
                </a:solidFill>
              </a:rPr>
              <a:t>Backend syncs with 5 global threat feeds every 30 mins.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2. Real-Time Telemetry: </a:t>
            </a:r>
            <a:r>
              <a:rPr sz="1200" dirty="0">
                <a:solidFill>
                  <a:srgbClr val="334155"/>
                </a:solidFill>
              </a:rPr>
              <a:t>Events streamed via Socket.io directly to the live dashboard.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3. Visual Triage: </a:t>
            </a:r>
            <a:r>
              <a:rPr sz="1200" dirty="0">
                <a:solidFill>
                  <a:srgbClr val="334155"/>
                </a:solidFill>
              </a:rPr>
              <a:t>Leaflet world map pinpoints attack origins; dynamic gauge flags anomalies.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4. 1-Click AI Mitigation: </a:t>
            </a:r>
            <a:r>
              <a:rPr sz="1200" dirty="0">
                <a:solidFill>
                  <a:srgbClr val="334155"/>
                </a:solidFill>
              </a:rPr>
              <a:t>Analyst requests AI diagnosis -&gt; receives instant mitigation steps.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800">
                <a:solidFill>
                  <a:srgbClr val="CBD5E1"/>
                </a:solidFill>
              </a:defRPr>
            </a:pPr>
            <a:r>
              <a:rPr sz="1200" dirty="0"/>
              <a:t>──────────────────────────────────────────────</a:t>
            </a:r>
          </a:p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rPr sz="1200" dirty="0"/>
              <a:t>JOURNEY B: EVERYDAY CONSUMER / STUDENT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1. Input Suspicious Text/URL: </a:t>
            </a:r>
            <a:r>
              <a:rPr sz="1200" dirty="0">
                <a:solidFill>
                  <a:srgbClr val="334155"/>
                </a:solidFill>
              </a:rPr>
              <a:t>User pastes suspicious WhatsApp SMS, phishing link, or notice.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2. AI Threat Forensics: </a:t>
            </a:r>
            <a:r>
              <a:rPr sz="1200" dirty="0">
                <a:solidFill>
                  <a:srgbClr val="334155"/>
                </a:solidFill>
              </a:rPr>
              <a:t>Gemini 2.5 Flash analyzes threat indicators, urgency lures, and spoofing.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3. Plain-Language Verdict: </a:t>
            </a:r>
            <a:r>
              <a:rPr sz="1200" dirty="0">
                <a:solidFill>
                  <a:srgbClr val="334155"/>
                </a:solidFill>
              </a:rPr>
              <a:t>Clear Risk Level (Safe/Medium/High) with identified red flags.</a:t>
            </a:r>
          </a:p>
          <a:p>
            <a:pPr>
              <a:spcAft>
                <a:spcPts val="5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4. Immediate Escalation: </a:t>
            </a:r>
            <a:r>
              <a:rPr sz="1200" dirty="0">
                <a:solidFill>
                  <a:srgbClr val="334155"/>
                </a:solidFill>
              </a:rPr>
              <a:t>Direct connection to National Cybercrime Helpline 1930 &amp; RBI Sachet.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783080"/>
            <a:ext cx="493776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65960"/>
            <a:ext cx="4663440" cy="22770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29400" y="53035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t>LIVE DASHBOARD TELEMETRY IN ACTION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Dynamic circular risk gauge (97 Risk Critical), anomaly spike banner, real-time threat distribution chart, and live Leaflet attack 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Slide 5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71910"/>
            <a:ext cx="10728655" cy="453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Arial"/>
              </a:defRPr>
            </a:pPr>
            <a:r>
              <a:rPr dirty="0"/>
              <a:t>VALUE PROPOSITION &amp; INNOVATION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rPr dirty="0">
                <a:latin typeface="Agency FB" panose="020B0503020202020204" pitchFamily="34" charset="0"/>
              </a:rPr>
              <a:t>What Makes </a:t>
            </a:r>
            <a:r>
              <a:rPr dirty="0" err="1">
                <a:latin typeface="Agency FB" panose="020B0503020202020204" pitchFamily="34" charset="0"/>
              </a:rPr>
              <a:t>ShieldOne</a:t>
            </a:r>
            <a:r>
              <a:rPr dirty="0">
                <a:latin typeface="Agency FB" panose="020B0503020202020204" pitchFamily="34" charset="0"/>
              </a:rPr>
              <a:t> Different? Competitive Differentiators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5212080" cy="2103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109728" cy="2103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466344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🌐  Dual-Spectrum Accessibility</a:t>
            </a:r>
          </a:p>
          <a:p>
            <a:pPr>
              <a:spcAft>
                <a:spcPts val="6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rPr sz="1200" dirty="0"/>
              <a:t>Enterprise SOC + Public Citizen Defense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rPr sz="1200" dirty="0"/>
              <a:t>Traditional SIEM solutions (Splunk, IBM </a:t>
            </a:r>
            <a:r>
              <a:rPr sz="1200" dirty="0" err="1"/>
              <a:t>QRadar</a:t>
            </a:r>
            <a:r>
              <a:rPr sz="1200" dirty="0"/>
              <a:t>) cost hundreds of thousands of dollars and serve only corporate SOCs. </a:t>
            </a:r>
            <a:r>
              <a:rPr sz="1200" dirty="0" err="1"/>
              <a:t>ShieldOne</a:t>
            </a:r>
            <a:r>
              <a:rPr sz="1200" dirty="0"/>
              <a:t> uniquely bridges enterprise-grade intelligence to citizen cyber defense on one unified platform.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212080" cy="2103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109728" cy="21031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965960"/>
            <a:ext cx="466344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⚡  Zero-Lag WebSocket Streaming</a:t>
            </a:r>
          </a:p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Arial"/>
              </a:defRPr>
            </a:pPr>
            <a:r>
              <a:rPr sz="1200" dirty="0"/>
              <a:t>Push Architecture vs. Polling Delays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rPr sz="1200" dirty="0"/>
              <a:t>Legacy monitoring systems poll APIs periodically (every 5-15 mins). </a:t>
            </a:r>
            <a:r>
              <a:rPr sz="1200" dirty="0" err="1"/>
              <a:t>ShieldOne</a:t>
            </a:r>
            <a:r>
              <a:rPr sz="1200" dirty="0"/>
              <a:t> pushes live threat telemetry every 2 seconds via Socket.io full-duplex </a:t>
            </a:r>
            <a:r>
              <a:rPr sz="1200" dirty="0" err="1"/>
              <a:t>WebSockets</a:t>
            </a:r>
            <a:r>
              <a:rPr sz="1200" dirty="0"/>
              <a:t>, eliminating detection latency.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5212080" cy="2103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109728" cy="21031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206240"/>
            <a:ext cx="466344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🧠  Contextual LLM Reasoning</a:t>
            </a:r>
          </a:p>
          <a:p>
            <a:pPr>
              <a:spcAft>
                <a:spcPts val="600"/>
              </a:spcAft>
              <a:defRPr sz="90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Gemini 2.5 Flash vs. Rigid Regex Rules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rPr sz="1200" dirty="0"/>
              <a:t>Traditional scanners match static blacklists that attackers easily bypass. </a:t>
            </a:r>
            <a:r>
              <a:rPr sz="1200" dirty="0" err="1"/>
              <a:t>ShieldOne</a:t>
            </a:r>
            <a:r>
              <a:rPr sz="1200" dirty="0"/>
              <a:t> utilizes generative AI to comprehend psychological manipulation, urgency cues, and emerging fraud vectors.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023360"/>
            <a:ext cx="5212080" cy="2103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4023360"/>
            <a:ext cx="109728" cy="2103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4206240"/>
            <a:ext cx="466344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🛡️  Automated Multi-Source Fusion</a:t>
            </a:r>
          </a:p>
          <a:p>
            <a:pPr>
              <a:spcAft>
                <a:spcPts val="600"/>
              </a:spcAft>
              <a:defRPr sz="900" b="1">
                <a:solidFill>
                  <a:srgbClr val="10B981"/>
                </a:solidFill>
                <a:latin typeface="Arial"/>
              </a:defRPr>
            </a:pPr>
            <a:r>
              <a:rPr sz="1200" dirty="0"/>
              <a:t>5 Global Authoritative Threat Feeds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rPr sz="1200" dirty="0" err="1"/>
              <a:t>ShieldOne</a:t>
            </a:r>
            <a:r>
              <a:rPr sz="1200" dirty="0"/>
              <a:t> fuses Abuse.ch </a:t>
            </a:r>
            <a:r>
              <a:rPr sz="1200" dirty="0" err="1"/>
              <a:t>Feodo</a:t>
            </a:r>
            <a:r>
              <a:rPr sz="1200" dirty="0"/>
              <a:t> Tracker, </a:t>
            </a:r>
            <a:r>
              <a:rPr sz="1200" dirty="0" err="1"/>
              <a:t>MalwareBazaar</a:t>
            </a:r>
            <a:r>
              <a:rPr sz="1200" dirty="0"/>
              <a:t>, </a:t>
            </a:r>
            <a:r>
              <a:rPr sz="1200" dirty="0" err="1"/>
              <a:t>ThreatFox</a:t>
            </a:r>
            <a:r>
              <a:rPr sz="1200" dirty="0"/>
              <a:t>, CISA KEV, and </a:t>
            </a:r>
            <a:r>
              <a:rPr sz="1200" dirty="0" err="1"/>
              <a:t>DShield</a:t>
            </a:r>
            <a:r>
              <a:rPr sz="1200" dirty="0"/>
              <a:t> honeypot telemetry into a unified ingestion pipeline with zero manual analyst curation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Slide 6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71910"/>
            <a:ext cx="10728655" cy="453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Arial"/>
              </a:defRPr>
            </a:pPr>
            <a:r>
              <a:rPr dirty="0"/>
              <a:t>SYSTEM DESIGN &amp; TECH IMPLEMENTATION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rPr dirty="0">
                <a:latin typeface="Agency FB" panose="020B0503020202020204" pitchFamily="34" charset="0"/>
              </a:rPr>
              <a:t>Technology Stack &amp; AI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10728655" cy="102412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109728" cy="10241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56232"/>
            <a:ext cx="10241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rPr sz="1200" dirty="0"/>
              <a:t>LAYER 1: USER INTERACTION &amp; VISUALIZATION (FRONTEND)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Stack: React 19 • Vite • Leaflet &amp; React-Leaflet • Recharts • GSAP Animations • Vanilla CSS Tokens</a:t>
            </a:r>
          </a:p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rPr sz="1200" dirty="0"/>
              <a:t>Responsive single-page web app with real-time UI re-rendering, interactive world map coordinates, dynamic SVG risk meters, and dual personal/professional dashboard routing.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98648"/>
            <a:ext cx="10728655" cy="102412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898648"/>
            <a:ext cx="109728" cy="102412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2971800"/>
            <a:ext cx="10241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rPr sz="1200" dirty="0"/>
              <a:t>LAYER 2: STREAMING &amp; INGESTION BACKEND (MICROSERVICES)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Stack: Node.js • Express 5 • Socket.io (</a:t>
            </a:r>
            <a:r>
              <a:rPr sz="1200" dirty="0" err="1"/>
              <a:t>WebSockets</a:t>
            </a:r>
            <a:r>
              <a:rPr sz="1200" dirty="0"/>
              <a:t>) • Axios • Rate Limiting • CORS Middleware</a:t>
            </a:r>
          </a:p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rPr sz="1200" dirty="0"/>
              <a:t>High-throughput server pushing 2-second telemetry broadcasts, running 30-minute </a:t>
            </a:r>
            <a:r>
              <a:rPr sz="1200" dirty="0" err="1"/>
              <a:t>cron</a:t>
            </a:r>
            <a:r>
              <a:rPr sz="1200" dirty="0"/>
              <a:t> feed synchronizers, and serving secure RESTful authentication and analysis endpoints.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14216"/>
            <a:ext cx="10728655" cy="102412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4014216"/>
            <a:ext cx="109728" cy="10241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087368"/>
            <a:ext cx="10241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LAYER 3: AI REASONING &amp; LLM TRIAGE ENGINE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Stack: Google Gemini 2.5 Flash • </a:t>
            </a:r>
            <a:r>
              <a:rPr sz="1200" dirty="0" err="1"/>
              <a:t>OpenRouter</a:t>
            </a:r>
            <a:r>
              <a:rPr sz="1200" dirty="0"/>
              <a:t> API • Custom Prompt Engineering • JSON Schema Validation</a:t>
            </a:r>
          </a:p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rPr sz="1200" dirty="0"/>
              <a:t>Generative AI engine performing 1-click incident explanations, MITRE ATT&amp;CK attribution, actionable remediation playbooks, and localized Indian cyber scam pattern analysis.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129784"/>
            <a:ext cx="10728655" cy="102412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129784"/>
            <a:ext cx="109728" cy="10241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5202936"/>
            <a:ext cx="10241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rPr sz="1200" dirty="0"/>
              <a:t>LAYER 4: THREAT INTELLIGENCE &amp; PERSISTENCE LAYER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Stack: Abuse.ch (</a:t>
            </a:r>
            <a:r>
              <a:rPr sz="1200" dirty="0" err="1"/>
              <a:t>Feodo</a:t>
            </a:r>
            <a:r>
              <a:rPr sz="1200" dirty="0"/>
              <a:t>, </a:t>
            </a:r>
            <a:r>
              <a:rPr sz="1200" dirty="0" err="1"/>
              <a:t>MalwareBazaar</a:t>
            </a:r>
            <a:r>
              <a:rPr sz="1200" dirty="0"/>
              <a:t>, </a:t>
            </a:r>
            <a:r>
              <a:rPr sz="1200" dirty="0" err="1"/>
              <a:t>ThreatFox</a:t>
            </a:r>
            <a:r>
              <a:rPr sz="1200" dirty="0"/>
              <a:t>) • CISA KEV • SANS </a:t>
            </a:r>
            <a:r>
              <a:rPr sz="1200" dirty="0" err="1"/>
              <a:t>DShield</a:t>
            </a:r>
            <a:r>
              <a:rPr sz="1200" dirty="0"/>
              <a:t> • </a:t>
            </a:r>
            <a:r>
              <a:rPr sz="1200" dirty="0" err="1"/>
              <a:t>Supabase</a:t>
            </a:r>
            <a:r>
              <a:rPr sz="1200" dirty="0"/>
              <a:t> Auth • </a:t>
            </a:r>
            <a:r>
              <a:rPr sz="1200" dirty="0" err="1"/>
              <a:t>Nodemailer</a:t>
            </a:r>
            <a:endParaRPr sz="1200" dirty="0"/>
          </a:p>
          <a:p>
            <a:pPr>
              <a:defRPr sz="850">
                <a:solidFill>
                  <a:srgbClr val="334155"/>
                </a:solidFill>
                <a:latin typeface="Arial"/>
              </a:defRPr>
            </a:pPr>
            <a:r>
              <a:rPr sz="1200" dirty="0"/>
              <a:t>Authoritative feeds providing active botnet C2 IPs, payload signatures, ransomware indicators, and honeypot records with fallback in-memory stores and OTP email delivery.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Slide 7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432" y="877824"/>
            <a:ext cx="10728655" cy="453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Arial"/>
              </a:defRPr>
            </a:pPr>
            <a:r>
              <a:rPr dirty="0"/>
              <a:t>REAL-WORLD VIABILITY &amp; GROWTH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rPr dirty="0">
                <a:latin typeface="Agency FB" panose="020B0503020202020204" pitchFamily="34" charset="0"/>
              </a:rPr>
              <a:t>Impact, Feasibility &amp; Scalability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338328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38328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2926080" cy="3980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rPr sz="1200" dirty="0"/>
              <a:t>QUANTIFIABLE IMPACT</a:t>
            </a:r>
          </a:p>
          <a:p>
            <a:pPr>
              <a:spcAft>
                <a:spcPts val="10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60%+ Triage Acceleration: </a:t>
            </a:r>
            <a:r>
              <a:rPr sz="1200" dirty="0">
                <a:solidFill>
                  <a:srgbClr val="334155"/>
                </a:solidFill>
              </a:rPr>
              <a:t>Reduces Tier-1 analyst mean triage time from 20 mins to under 30 seconds via 1-click AI explanations.</a:t>
            </a:r>
          </a:p>
          <a:p>
            <a:pPr>
              <a:spcAft>
                <a:spcPts val="10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Proactive Fraud Prevention: </a:t>
            </a:r>
            <a:r>
              <a:rPr sz="1200" dirty="0">
                <a:solidFill>
                  <a:srgbClr val="334155"/>
                </a:solidFill>
              </a:rPr>
              <a:t>Empowers everyday consumers to verify scam texts and phishing links BEFORE transferring money or sharing credentials.</a:t>
            </a:r>
          </a:p>
          <a:p>
            <a:pPr>
              <a:spcAft>
                <a:spcPts val="10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Public Awareness &amp; Redressal: </a:t>
            </a:r>
            <a:r>
              <a:rPr sz="1200" dirty="0">
                <a:solidFill>
                  <a:srgbClr val="334155"/>
                </a:solidFill>
              </a:rPr>
              <a:t>Directly bridges users to the National Cybercrime Portal (1930) and RBI Sachet, boosting official reporting rates.</a:t>
            </a:r>
          </a:p>
          <a:p>
            <a:pPr>
              <a:spcAft>
                <a:spcPts val="10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Continuous Audit Readiness: </a:t>
            </a:r>
            <a:r>
              <a:rPr sz="1200" dirty="0">
                <a:solidFill>
                  <a:srgbClr val="334155"/>
                </a:solidFill>
              </a:rPr>
              <a:t>Replaces periodic manual compliance checks with real-time SOC 2 and ISO 27001 posture tracking.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783080"/>
            <a:ext cx="338328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783080"/>
            <a:ext cx="3383280" cy="7315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2926080" cy="3980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4F46E5"/>
                </a:solidFill>
                <a:latin typeface="Arial"/>
              </a:defRPr>
            </a:pPr>
            <a:r>
              <a:rPr sz="1200" dirty="0"/>
              <a:t>TECHNICAL FEASIBILITY</a:t>
            </a:r>
          </a:p>
          <a:p>
            <a:pPr>
              <a:spcAft>
                <a:spcPts val="10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Working End-to-End Prototype: </a:t>
            </a:r>
            <a:r>
              <a:rPr sz="1200" dirty="0">
                <a:solidFill>
                  <a:srgbClr val="334155"/>
                </a:solidFill>
              </a:rPr>
              <a:t>Fully functional system deployed with live WebSocket broadcasting and integrated Gemini 2.5 Flash LLM.</a:t>
            </a:r>
          </a:p>
          <a:p>
            <a:pPr>
              <a:spcAft>
                <a:spcPts val="10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Zero External Database Dependencies: </a:t>
            </a:r>
            <a:r>
              <a:rPr sz="1200" dirty="0">
                <a:solidFill>
                  <a:srgbClr val="334155"/>
                </a:solidFill>
              </a:rPr>
              <a:t>Graceful fallback architecture with in-memory session caching when cloud services are unavailable.</a:t>
            </a:r>
          </a:p>
          <a:p>
            <a:pPr>
              <a:spcAft>
                <a:spcPts val="10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Resilient Rate-Limiting: </a:t>
            </a:r>
            <a:r>
              <a:rPr sz="1200" dirty="0">
                <a:solidFill>
                  <a:srgbClr val="334155"/>
                </a:solidFill>
              </a:rPr>
              <a:t>Intelligent 30-minute ingestion workers prevent external feed rate limits while keeping data fresh.</a:t>
            </a:r>
          </a:p>
          <a:p>
            <a:pPr>
              <a:spcAft>
                <a:spcPts val="10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Cost-Efficient Model: </a:t>
            </a:r>
            <a:r>
              <a:rPr sz="1200" dirty="0">
                <a:solidFill>
                  <a:srgbClr val="334155"/>
                </a:solidFill>
              </a:rPr>
              <a:t>Utilizes open-source threat intelligence feeds and lightweight server-sent WebSocket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783080"/>
            <a:ext cx="338328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783080"/>
            <a:ext cx="338328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965960"/>
            <a:ext cx="2926080" cy="3795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rPr sz="1200" dirty="0"/>
              <a:t>HORIZONTAL SCALABILITY</a:t>
            </a:r>
          </a:p>
          <a:p>
            <a:pPr>
              <a:spcAft>
                <a:spcPts val="10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WebSocket Fan-Out Architecture: </a:t>
            </a:r>
            <a:r>
              <a:rPr sz="1200" dirty="0">
                <a:solidFill>
                  <a:srgbClr val="334155"/>
                </a:solidFill>
              </a:rPr>
              <a:t>Node.js + Socket.io can distribute live telemetry to thousands of simultaneous analysts.</a:t>
            </a:r>
          </a:p>
          <a:p>
            <a:pPr>
              <a:spcAft>
                <a:spcPts val="10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Microservices &amp; Cloud Ready: </a:t>
            </a:r>
            <a:r>
              <a:rPr sz="1200" dirty="0">
                <a:solidFill>
                  <a:srgbClr val="334155"/>
                </a:solidFill>
              </a:rPr>
              <a:t>Decoupled ingestion, AI triage, and UI components can be containerized with Docker / Kubernetes.</a:t>
            </a:r>
          </a:p>
          <a:p>
            <a:pPr>
              <a:spcAft>
                <a:spcPts val="10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Enterprise Multi-Tenancy: </a:t>
            </a:r>
            <a:r>
              <a:rPr sz="1200" dirty="0">
                <a:solidFill>
                  <a:srgbClr val="334155"/>
                </a:solidFill>
              </a:rPr>
              <a:t>Extensible RBAC allows multiple organizations to run isolated SOC dashboards on shared infrastructure.</a:t>
            </a:r>
          </a:p>
          <a:p>
            <a:pPr>
              <a:spcAft>
                <a:spcPts val="1000"/>
              </a:spcAft>
              <a:defRPr sz="950">
                <a:latin typeface="Arial"/>
              </a:defRPr>
            </a:pPr>
            <a:r>
              <a:rPr sz="1200" b="1" dirty="0">
                <a:solidFill>
                  <a:srgbClr val="0F172A"/>
                </a:solidFill>
              </a:rPr>
              <a:t>•  Browser Extension Roadmap: </a:t>
            </a:r>
            <a:r>
              <a:rPr sz="1200" dirty="0">
                <a:solidFill>
                  <a:srgbClr val="334155"/>
                </a:solidFill>
              </a:rPr>
              <a:t>Underlying scam analyzer API ready to power real-time browser phishing interception.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18589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Arial"/>
              </a:defRPr>
            </a:pPr>
            <a:r>
              <a:t>Slide 8 of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77824"/>
            <a:ext cx="10728655" cy="453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Arial"/>
              </a:defRPr>
            </a:pPr>
            <a:r>
              <a:rPr dirty="0"/>
              <a:t>FUTURE HORIZONS &amp; PROJECT OWNERSHIP</a:t>
            </a:r>
          </a:p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rPr dirty="0">
                <a:latin typeface="Agency FB" panose="020B0503020202020204" pitchFamily="34" charset="0"/>
              </a:rPr>
              <a:t>Execution Roadmap &amp; The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36192"/>
            <a:ext cx="731520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621792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STRATEGIC EXECUTION ROADMAP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PHASE 1: FOUNDATION &amp; INTELLIGENCE (COMPLETED)</a:t>
            </a:r>
          </a:p>
          <a:p>
            <a:pPr>
              <a:defRPr sz="880">
                <a:solidFill>
                  <a:srgbClr val="334155"/>
                </a:solidFill>
                <a:latin typeface="Arial"/>
              </a:defRPr>
            </a:pPr>
            <a:r>
              <a:t>• Real-time SOC Dashboard with 2-second WebSocket broadcasts.</a:t>
            </a:r>
          </a:p>
          <a:p>
            <a:pPr>
              <a:defRPr sz="880">
                <a:solidFill>
                  <a:srgbClr val="334155"/>
                </a:solidFill>
                <a:latin typeface="Arial"/>
              </a:defRPr>
            </a:pPr>
            <a:r>
              <a:t>• Live Leaflet global attack map with geographic coordinates.</a:t>
            </a:r>
          </a:p>
          <a:p>
            <a:pPr>
              <a:defRPr sz="880">
                <a:solidFill>
                  <a:srgbClr val="334155"/>
                </a:solidFill>
                <a:latin typeface="Arial"/>
              </a:defRPr>
            </a:pPr>
            <a:r>
              <a:t>• Integrated 5 threat feeds (Feodo, MalwareBazaar, ThreatFox, CISA, DShield).</a:t>
            </a:r>
          </a:p>
          <a:p>
            <a:pPr>
              <a:defRPr sz="880">
                <a:solidFill>
                  <a:srgbClr val="334155"/>
                </a:solidFill>
                <a:latin typeface="Arial"/>
              </a:defRPr>
            </a:pPr>
            <a:r>
              <a:t>• Gemini 2.5 Flash Attack Explainer and Personal Scam Analyzer.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PHASE 2: ENTERPRISE INTEGRATIONS &amp; ENDPOINTS (Q1-Q2)</a:t>
            </a:r>
          </a:p>
          <a:p>
            <a:pPr>
              <a:defRPr sz="880">
                <a:solidFill>
                  <a:srgbClr val="334155"/>
                </a:solidFill>
                <a:latin typeface="Arial"/>
              </a:defRPr>
            </a:pPr>
            <a:r>
              <a:t>• Corporate Syslog / CEF log forwarder agent for internal enterprise SIEM ingestion.</a:t>
            </a:r>
          </a:p>
          <a:p>
            <a:pPr>
              <a:defRPr sz="880">
                <a:solidFill>
                  <a:srgbClr val="334155"/>
                </a:solidFill>
                <a:latin typeface="Arial"/>
              </a:defRPr>
            </a:pPr>
            <a:r>
              <a:t>• Automated SOAR playbooks for firewall IP blocking and quarantine.</a:t>
            </a:r>
          </a:p>
          <a:p>
            <a:pPr>
              <a:defRPr sz="880">
                <a:solidFill>
                  <a:srgbClr val="334155"/>
                </a:solidFill>
                <a:latin typeface="Arial"/>
              </a:defRPr>
            </a:pPr>
            <a:r>
              <a:t>• Chrome Browser Extension for real-time URL &amp; phishing scam interception.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PHASE 3: COLLABORATIVE DEFENSE &amp; SCALING (Q3-Q4)</a:t>
            </a:r>
          </a:p>
          <a:p>
            <a:pPr>
              <a:defRPr sz="880">
                <a:solidFill>
                  <a:srgbClr val="334155"/>
                </a:solidFill>
                <a:latin typeface="Arial"/>
              </a:defRPr>
            </a:pPr>
            <a:r>
              <a:t>• Community Threat Sharing Network using STIX/TAXII open standards.</a:t>
            </a:r>
          </a:p>
          <a:p>
            <a:pPr>
              <a:defRPr sz="880">
                <a:solidFill>
                  <a:srgbClr val="334155"/>
                </a:solidFill>
                <a:latin typeface="Arial"/>
              </a:defRPr>
            </a:pPr>
            <a:r>
              <a:t>• Crowdsourced fraud reporting database for fast scam pattern neutralization.</a:t>
            </a:r>
          </a:p>
          <a:p>
            <a:pPr>
              <a:defRPr sz="880">
                <a:solidFill>
                  <a:srgbClr val="334155"/>
                </a:solidFill>
                <a:latin typeface="Arial"/>
              </a:defRPr>
            </a:pPr>
            <a:r>
              <a:t>• Enterprise Multi-Tenant SaaS deployment with customizable compliance frameworks.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783080"/>
            <a:ext cx="4236415" cy="4572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223760" y="1783080"/>
            <a:ext cx="423641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52360" y="1965960"/>
            <a:ext cx="3779215" cy="3057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rPr dirty="0"/>
              <a:t>PROJECT OWNERSHIP &amp; CONTACT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850" b="1" dirty="0">
                <a:solidFill>
                  <a:srgbClr val="64748B"/>
                </a:solidFill>
              </a:rPr>
              <a:t>Lead</a:t>
            </a:r>
            <a:r>
              <a:rPr lang="en-IN" sz="850" b="1" dirty="0">
                <a:solidFill>
                  <a:srgbClr val="64748B"/>
                </a:solidFill>
              </a:rPr>
              <a:t> Developer &amp;</a:t>
            </a:r>
            <a:r>
              <a:rPr sz="850" b="1" dirty="0">
                <a:solidFill>
                  <a:srgbClr val="64748B"/>
                </a:solidFill>
              </a:rPr>
              <a:t> Architect:
</a:t>
            </a:r>
            <a:r>
              <a:rPr sz="1050" b="1" dirty="0">
                <a:solidFill>
                  <a:srgbClr val="0F172A"/>
                </a:solidFill>
              </a:rPr>
              <a:t>Bhargav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850" b="1" dirty="0">
                <a:solidFill>
                  <a:srgbClr val="64748B"/>
                </a:solidFill>
              </a:rPr>
              <a:t>Student UID:
</a:t>
            </a:r>
            <a:r>
              <a:rPr sz="1050" b="1" dirty="0">
                <a:solidFill>
                  <a:srgbClr val="0F172A"/>
                </a:solidFill>
              </a:rPr>
              <a:t>24BCS11028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850" b="1" dirty="0">
                <a:solidFill>
                  <a:srgbClr val="64748B"/>
                </a:solidFill>
              </a:rPr>
              <a:t>Academic Section:
</a:t>
            </a:r>
            <a:r>
              <a:rPr sz="1050" b="1" dirty="0">
                <a:solidFill>
                  <a:srgbClr val="0F172A"/>
                </a:solidFill>
              </a:rPr>
              <a:t>803A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850" b="1" dirty="0">
                <a:solidFill>
                  <a:srgbClr val="64748B"/>
                </a:solidFill>
              </a:rPr>
              <a:t>Department / Degree:
</a:t>
            </a:r>
            <a:r>
              <a:rPr sz="1050" b="1" dirty="0">
                <a:solidFill>
                  <a:srgbClr val="0F172A"/>
                </a:solidFill>
              </a:rPr>
              <a:t>Computer Science &amp; Engineering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850" b="1" dirty="0">
                <a:solidFill>
                  <a:srgbClr val="64748B"/>
                </a:solidFill>
              </a:rPr>
              <a:t>Primary Email:
</a:t>
            </a:r>
            <a:r>
              <a:rPr sz="1050" b="1" dirty="0">
                <a:solidFill>
                  <a:srgbClr val="0F172A"/>
                </a:solidFill>
              </a:rPr>
              <a:t>bhargav3509@gmail.com</a:t>
            </a:r>
          </a:p>
          <a:p>
            <a:pPr>
              <a:spcAft>
                <a:spcPts val="600"/>
              </a:spcAft>
              <a:defRPr sz="950">
                <a:latin typeface="Arial"/>
              </a:defRPr>
            </a:pPr>
            <a:r>
              <a:rPr sz="850" b="1" dirty="0">
                <a:solidFill>
                  <a:srgbClr val="64748B"/>
                </a:solidFill>
              </a:rPr>
              <a:t>Domain:
</a:t>
            </a:r>
            <a:r>
              <a:rPr sz="1050" b="1" dirty="0">
                <a:solidFill>
                  <a:srgbClr val="0F172A"/>
                </a:solidFill>
              </a:rPr>
              <a:t>Cybersecurity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5120640"/>
            <a:ext cx="3779215" cy="105156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“ShieldOne — From raw threat intelligence to real-time security awareness for everyone.”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1644</Words>
  <Application>Microsoft Office PowerPoint</Application>
  <PresentationFormat>Widescreen</PresentationFormat>
  <Paragraphs>136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Agency FB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BHARGAV KUMAR</cp:lastModifiedBy>
  <cp:revision>2</cp:revision>
  <dcterms:created xsi:type="dcterms:W3CDTF">2013-01-27T09:14:16Z</dcterms:created>
  <dcterms:modified xsi:type="dcterms:W3CDTF">2026-10-15T21:19:39Z</dcterms:modified>
  <cp:category/>
</cp:coreProperties>
</file>